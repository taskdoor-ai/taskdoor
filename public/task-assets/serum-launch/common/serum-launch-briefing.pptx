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8050fa00f2470a" /><Relationship Type="http://schemas.openxmlformats.org/officeDocument/2006/relationships/extended-properties" Target="/docProps/app.xml" Id="Rb990f0d3a1e04fcc" /><Relationship Type="http://schemas.openxmlformats.org/officeDocument/2006/relationships/officeDocument" Target="/ppt/presentation.xml" Id="R91c98eca4634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c986752eee4b6a"/>
  </p:sldMasterIdLst>
  <p:notesMasterIdLst>
    <p:notesMasterId xmlns:r="http://schemas.openxmlformats.org/officeDocument/2006/relationships" r:id="R0a6eb7d0a9b746b0"/>
  </p:notesMasterIdLst>
  <p:sldIdLst>
    <p:sldId xmlns:r="http://schemas.openxmlformats.org/officeDocument/2006/relationships" id="256" r:id="R98f6921cbe164f8f"/>
    <p:sldId xmlns:r="http://schemas.openxmlformats.org/officeDocument/2006/relationships" id="257" r:id="R4e653574ebca428f"/>
    <p:sldId xmlns:r="http://schemas.openxmlformats.org/officeDocument/2006/relationships" id="258" r:id="Rabd0166c9e164e31"/>
    <p:sldId xmlns:r="http://schemas.openxmlformats.org/officeDocument/2006/relationships" id="259" r:id="R4718ce73fc6549b4"/>
    <p:sldId xmlns:r="http://schemas.openxmlformats.org/officeDocument/2006/relationships" id="260" r:id="R6eccdf9b220f4aab"/>
    <p:sldId xmlns:r="http://schemas.openxmlformats.org/officeDocument/2006/relationships" id="261" r:id="Rc2b2646e263d4752"/>
    <p:sldId xmlns:r="http://schemas.openxmlformats.org/officeDocument/2006/relationships" id="262" r:id="Ra7684c1a232f4415"/>
    <p:sldId xmlns:r="http://schemas.openxmlformats.org/officeDocument/2006/relationships" id="263" r:id="R32816db829eb4f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04891d26f44221" /><Relationship Type="http://schemas.openxmlformats.org/officeDocument/2006/relationships/slideMaster" Target="/ppt/slideMasters/slideMaster1.xml" Id="Re4c986752eee4b6a" /><Relationship Type="http://schemas.openxmlformats.org/officeDocument/2006/relationships/notesMaster" Target="/ppt/notesMasters/notesMaster1.xml" Id="R0a6eb7d0a9b746b0" /><Relationship Type="http://schemas.openxmlformats.org/officeDocument/2006/relationships/presProps" Target="/ppt/presProps.xml" Id="R770ca98afebc43f4" /><Relationship Type="http://schemas.openxmlformats.org/officeDocument/2006/relationships/tableStyles" Target="/ppt/tableStyles.xml" Id="R4a5eb5b4e4084404" /><Relationship Type="http://schemas.openxmlformats.org/officeDocument/2006/relationships/slide" Target="/ppt/slides/slide1.xml" Id="R98f6921cbe164f8f" /><Relationship Type="http://schemas.openxmlformats.org/officeDocument/2006/relationships/slide" Target="/ppt/slides/slide2.xml" Id="R4e653574ebca428f" /><Relationship Type="http://schemas.openxmlformats.org/officeDocument/2006/relationships/slide" Target="/ppt/slides/slide3.xml" Id="Rabd0166c9e164e31" /><Relationship Type="http://schemas.openxmlformats.org/officeDocument/2006/relationships/slide" Target="/ppt/slides/slide4.xml" Id="R4718ce73fc6549b4" /><Relationship Type="http://schemas.openxmlformats.org/officeDocument/2006/relationships/slide" Target="/ppt/slides/slide5.xml" Id="R6eccdf9b220f4aab" /><Relationship Type="http://schemas.openxmlformats.org/officeDocument/2006/relationships/slide" Target="/ppt/slides/slide6.xml" Id="Rc2b2646e263d4752" /><Relationship Type="http://schemas.openxmlformats.org/officeDocument/2006/relationships/slide" Target="/ppt/slides/slide7.xml" Id="Ra7684c1a232f4415" /><Relationship Type="http://schemas.openxmlformats.org/officeDocument/2006/relationships/slide" Target="/ppt/slides/slide8.xml" Id="R32816db829eb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110fe1c67649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0108f684744ef3" /><Relationship Type="http://schemas.openxmlformats.org/officeDocument/2006/relationships/notesMaster" Target="/ppt/notesMasters/notesMaster1.xml" Id="Ra190ded9709e4c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25f730003740b3" /><Relationship Type="http://schemas.openxmlformats.org/officeDocument/2006/relationships/notesMaster" Target="/ppt/notesMasters/notesMaster1.xml" Id="Re072c59d16254c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aa6f6ad9c44063" /><Relationship Type="http://schemas.openxmlformats.org/officeDocument/2006/relationships/notesMaster" Target="/ppt/notesMasters/notesMaster1.xml" Id="R80574cf170bb4f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67f0c30760467f" /><Relationship Type="http://schemas.openxmlformats.org/officeDocument/2006/relationships/notesMaster" Target="/ppt/notesMasters/notesMaster1.xml" Id="R33380e624da048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95c4dda0f540e6" /><Relationship Type="http://schemas.openxmlformats.org/officeDocument/2006/relationships/notesMaster" Target="/ppt/notesMasters/notesMaster1.xml" Id="R0ff556d4caad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0ef117f604eab" /><Relationship Type="http://schemas.openxmlformats.org/officeDocument/2006/relationships/notesMaster" Target="/ppt/notesMasters/notesMaster1.xml" Id="R29575d90225247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1637689f86442b" /><Relationship Type="http://schemas.openxmlformats.org/officeDocument/2006/relationships/notesMaster" Target="/ppt/notesMasters/notesMaster1.xml" Id="R8973eb30050e40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d634bb9ff846a8" /><Relationship Type="http://schemas.openxmlformats.org/officeDocument/2006/relationships/notesMaster" Target="/ppt/notesMasters/notesMaster1.xml" Id="R95fd76418e2c40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  <a:p xmlns:a="http://schemas.openxmlformats.org/drawingml/2006/main">
            <a:r>
              <a:t>图片来源：public/task-assets/serum-launch/serum-launch-hero.png。图片为虚构商品视觉，不代表实际包装或功效。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  <a:p xmlns:a="http://schemas.openxmlformats.org/drawingml/2006/main">
            <a:r>
              <a:t>完成度 3297/4500=73.2667%，显示为73.3%。剩余4500-3297=1203分钟。完成度不等于3/8的任务数量占比。父任务不重复累计投入。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  <a:p xmlns:a="http://schemas.openxmlformats.org/drawingml/2006/main">
            <a:r>
              <a:t>日期差：2026-09-30减2026-09-21=9个自然日。预测完成日期不构成实际完成或承诺。活动窗口来自前序计划，与任务截止日期分别呈现。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  <a:p xmlns:a="http://schemas.openxmlformats.org/drawingml/2006/main">
            <a:r>
              <a:t>计划金额60000+180000+60000=300000元。放量占比180000/300000=60%。该页未报告实际平台消耗。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  <a:p xmlns:a="http://schemas.openxmlformats.org/drawingml/2006/main">
            <a:r>
              <a:t>库存5000+4500+2500=12000件。30ml与299元为计划商品基线，活动优惠条件以上线前核对版本为准。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来源：本地任务已验证快照，观测日期 2026-09-14。参考 output/pdf/秋季精华首发任务进展报告.pdf。创建日期 2026-09-08 由当前任务信息补充。生成日期 2026-10-16。所有任务状态、预算、库存及商品信息均为本地 Mock 合成演示，不作为真实审批或真实成交证据。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f6a75ccbf45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683c6bb344d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e7aefb9dd43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93b106ee0c42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d5a557be6b45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7426ce68e4c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35C53F-7A36-434F-A6B8-525D49C3C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8AC1422-EA45-4E5B-9D35-DB06320DD1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9BCCCC-4CBC-4FA6-818C-2854C4E55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4C4C70-2895-4D1E-A34F-B4D133E87D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4A4951-C906-4C4F-BFC7-18A4BAF50F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D4424F-1F31-4A3F-8F8C-60B7090A2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4A6C57-B152-43FF-AA73-CC4B34B827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DB3DBA-CE63-4D48-989F-A430E34DEF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B9076F-EDB0-4A2A-8B4B-99791ED3C9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1D78EA-0040-4691-9B1A-DA1339BD7D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8fd7c61bb04dbd" /><Relationship Type="http://schemas.openxmlformats.org/officeDocument/2006/relationships/slideLayout" Target="/ppt/slideLayouts/slideLayout1.xml" Id="Rc55532d42a214473" /><Relationship Type="http://schemas.openxmlformats.org/officeDocument/2006/relationships/slideLayout" Target="/ppt/slideLayouts/slideLayout2.xml" Id="Re51f22ce96714bdc" /><Relationship Type="http://schemas.openxmlformats.org/officeDocument/2006/relationships/slideLayout" Target="/ppt/slideLayouts/slideLayout3.xml" Id="Rcefc271002da46f8" /><Relationship Type="http://schemas.openxmlformats.org/officeDocument/2006/relationships/slideLayout" Target="/ppt/slideLayouts/slideLayout4.xml" Id="Rddea369c98004952" /><Relationship Type="http://schemas.openxmlformats.org/officeDocument/2006/relationships/slideLayout" Target="/ppt/slideLayouts/slideLayout5.xml" Id="R71d0c4dd31274e3b" /><Relationship Type="http://schemas.openxmlformats.org/officeDocument/2006/relationships/slideLayout" Target="/ppt/slideLayouts/slideLayout6.xml" Id="Rd532e05d3960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5532d42a214473"/>
    <p:sldLayoutId xmlns:r="http://schemas.openxmlformats.org/officeDocument/2006/relationships" id="2147483650" r:id="Re51f22ce96714bdc"/>
    <p:sldLayoutId xmlns:r="http://schemas.openxmlformats.org/officeDocument/2006/relationships" id="2147483651" r:id="Rcefc271002da46f8"/>
    <p:sldLayoutId xmlns:r="http://schemas.openxmlformats.org/officeDocument/2006/relationships" id="2147483652" r:id="Rddea369c98004952"/>
    <p:sldLayoutId xmlns:r="http://schemas.openxmlformats.org/officeDocument/2006/relationships" id="2147483653" r:id="R71d0c4dd31274e3b"/>
    <p:sldLayoutId xmlns:r="http://schemas.openxmlformats.org/officeDocument/2006/relationships" id="2147483654" r:id="Rd532e05d3960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88b8c00304396" /><Relationship Type="http://schemas.openxmlformats.org/officeDocument/2006/relationships/image" Target="/ppt/media/image.png" Id="Raea9c3c52cba4a8e" /><Relationship Type="http://schemas.openxmlformats.org/officeDocument/2006/relationships/notesSlide" Target="/ppt/notesSlides/notesSlide1.xml" Id="Rce5b0b836b194b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7ea8b80864290" /><Relationship Type="http://schemas.openxmlformats.org/officeDocument/2006/relationships/chart" Target="/ppt/slides/charts/chart1.xml" Id="R304f83b01ac047e6" /><Relationship Type="http://schemas.openxmlformats.org/officeDocument/2006/relationships/notesSlide" Target="/ppt/notesSlides/notesSlide2.xml" Id="R07a9e18d229c46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5c4da430e44f6" /><Relationship Type="http://schemas.openxmlformats.org/officeDocument/2006/relationships/notesSlide" Target="/ppt/notesSlides/notesSlide3.xml" Id="Re3cbee464fd74e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0b9a362f949d0" /><Relationship Type="http://schemas.openxmlformats.org/officeDocument/2006/relationships/notesSlide" Target="/ppt/notesSlides/notesSlide4.xml" Id="R468755b52f6449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7656d3b814179" /><Relationship Type="http://schemas.openxmlformats.org/officeDocument/2006/relationships/chart" Target="/ppt/slides/charts/chart2.xml" Id="R30c95abbec4749a2" /><Relationship Type="http://schemas.openxmlformats.org/officeDocument/2006/relationships/notesSlide" Target="/ppt/notesSlides/notesSlide5.xml" Id="Rab8febca0d344b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dd7d1c72f47e6" /><Relationship Type="http://schemas.openxmlformats.org/officeDocument/2006/relationships/chart" Target="/ppt/slides/charts/chart3.xml" Id="R6440f68db3214272" /><Relationship Type="http://schemas.openxmlformats.org/officeDocument/2006/relationships/notesSlide" Target="/ppt/notesSlides/notesSlide6.xml" Id="Rd0cc291420994b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41db0812641c7" /><Relationship Type="http://schemas.openxmlformats.org/officeDocument/2006/relationships/notesSlide" Target="/ppt/notesSlides/notesSlide7.xml" Id="R2cff5a55782e4d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38cdd0c1844d1" /><Relationship Type="http://schemas.openxmlformats.org/officeDocument/2006/relationships/notesSlide" Target="/ppt/notesSlides/notesSlide8.xml" Id="Rf826e13bb0484380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计划投入分配</c:v>
          </c:tx>
          <c:dPt>
            <c:idx val="0"/>
            <c:spPr>
              <a:solidFill xmlns:a="http://schemas.openxmlformats.org/drawingml/2006/main">
                <a:srgbClr val="244C3B"/>
              </a:solidFill>
            </c:spPr>
          </c:dPt>
          <c:dPt>
            <c:idx val="1"/>
            <c:spPr>
              <a:solidFill xmlns:a="http://schemas.openxmlformats.org/drawingml/2006/main">
                <a:srgbClr val="DAD9C9"/>
              </a:solidFill>
            </c:spPr>
          </c:dPt>
          <c:cat>
            <c:strLit>
              <c:ptCount val="2"/>
              <c:pt idx="0">
                <c:v>已完成 3,297</c:v>
              </c:pt>
              <c:pt idx="1">
                <c:v>剩余 1,203</c:v>
              </c:pt>
            </c:strLit>
          </c:cat>
          <c:val>
            <c:numLit>
              <c:formatCode>General</c:formatCode>
              <c:ptCount val="2"/>
              <c:pt idx="0">
                <c:v>3297</c:v>
              </c:pt>
              <c:pt idx="1">
                <c:v>1203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44C3B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7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6332D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预算，元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77917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44C3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7B3D"/>
              </a:solidFill>
            </c:spPr>
          </c:dPt>
          <c:cat>
            <c:strLit>
              <c:ptCount val="3"/>
              <c:pt idx="0">
                <c:v>冷启</c:v>
              </c:pt>
              <c:pt idx="1">
                <c:v>放量</c:v>
              </c:pt>
              <c:pt idx="2">
                <c:v>追投</c:v>
              </c:pt>
            </c:strLit>
          </c:cat>
          <c:val>
            <c:numLit>
              <c:formatCode>General</c:formatCode>
              <c:ptCount val="3"/>
              <c:pt idx="0">
                <c:v>60000</c:v>
              </c:pt>
              <c:pt idx="1">
                <c:v>180000</c:v>
              </c:pt>
              <c:pt idx="2">
                <c:v>60000</c:v>
              </c:pt>
            </c:numLit>
          </c:val>
        </c:ser>
        <c:dLbls>
          <c:numFmt formatCode="#,##0&quot; 元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6332D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库存，件</c:v>
          </c:tx>
          <c:invertIfNegative val="0"/>
          <c:dPt>
            <c:idx val="0"/>
            <c:invertIfNegative val="0"/>
            <c:spPr>
              <a:solidFill xmlns:a="http://schemas.openxmlformats.org/drawingml/2006/main">
                <a:srgbClr val="244C3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791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7B3D"/>
              </a:solidFill>
            </c:spPr>
          </c:dPt>
          <c:cat>
            <c:strLit>
              <c:ptCount val="3"/>
              <c:pt idx="0">
                <c:v>自播</c:v>
              </c:pt>
              <c:pt idx="1">
                <c:v>达人直播</c:v>
              </c:pt>
              <c:pt idx="2">
                <c:v>短视频</c:v>
              </c:pt>
            </c:strLit>
          </c:cat>
          <c:val>
            <c:numLit>
              <c:formatCode>General</c:formatCode>
              <c:ptCount val="3"/>
              <c:pt idx="0">
                <c:v>5000</c:v>
              </c:pt>
              <c:pt idx="1">
                <c:v>4500</c:v>
              </c:pt>
              <c:pt idx="2">
                <c:v>2500</c:v>
              </c:pt>
            </c:numLit>
          </c:val>
        </c:ser>
        <c:dLbls>
          <c:numFmt formatCode="#,##0&quot; 件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6332D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F6F28-A233-49C8-832D-73DE75838A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9c3c52cba4a8e"/>
          <a:srcRect xmlns:a="http://schemas.openxmlformats.org/drawingml/2006/main" l="40000" t="0" r="0" b="0"/>
          <a:stretch xmlns:a="http://schemas.openxmlformats.org/drawingml/2006/main"/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E9BD44-2EB3-4D0F-8A3B-0CF27AF7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9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秋季精华首发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49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协同汇报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1456558-F88A-40AD-B538-3FCF5B7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任务进展与待闭环事项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65D084B-7891-4D18-A1D5-195931A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52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负责人 周岚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ADB9E7-439E-4E09-B08A-AB603991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14925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观测 2026-09-14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生成 2026-10-16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8D0086F-FACB-4838-A570-D8E9D0D3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</a:t>
            </a:r>
          </a:p>
        </p:txBody>
      </p:sp>
    </p:spTree>
    <p:extLst>
      <p:ext uri="{BB962C8B-B14F-4D97-AF65-F5344CB8AC3E}">
        <p14:creationId xmlns:p14="http://schemas.microsoft.com/office/powerpoint/2010/main" val="88916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0E08E3-5BAE-4FE0-A0C5-12947E74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任务完成度 73.3%</a:t>
            </a:r>
          </a:p>
        </p:txBody>
      </p:sp>
      <p:sp>
        <p:nvSpPr>
          <p:cNvPr id="2" name="slide-footnote">
            <a:extLst xmlns:a="http://schemas.openxmlformats.org/drawingml/2006/main">
              <a:ext uri="{FF2B5EF4-FFF2-40B4-BE49-F238E27FC236}">
                <a16:creationId xmlns:a16="http://schemas.microsoft.com/office/drawing/2014/main" id="{CEE304A4-4572-4E17-A361-AE321409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　观测 2026-09-14　生成 2026-10-16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1218DA-AF4F-4D8D-BB98-5951A828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9127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02 / 08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31B7E7-F1FF-4C58-BF04-E66A1B9F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1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1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3,297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92CEB83-B8BB-41EA-B156-4E2CB8BE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574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已完成投入，分钟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25EAA7-D279-403C-8F36-0D294004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19475"/>
            <a:ext cx="4429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总投入 4,500 分钟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剩余 1,203 分钟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D05333-A2E7-4389-A695-C5A48DE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8 个末级任务中，3 项已完成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其余任务的部分进展计入加权完成度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2ED3310-5179-497C-8288-6540146A969B}"/>
              </a:ext>
            </a:extLst>
          </p:cNvPr>
          <p:cNvGraphicFramePr/>
          <p:nvPr/>
        </p:nvGraphicFramePr>
        <p:xfrm>
          <a:off xmlns:a="http://schemas.openxmlformats.org/drawingml/2006/main" x="5886450" y="1362075"/>
          <a:ext xmlns:a="http://schemas.openxmlformats.org/drawingml/2006/main" cx="5562600" cy="4124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4f83b01ac047e6"/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0F559C-96FF-4CAF-BE61-F7CC3DDB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1 人天 = 480 分钟。9.375 人天计划，6.86875 人天已完成。</a:t>
            </a:r>
          </a:p>
        </p:txBody>
      </p:sp>
    </p:spTree>
    <p:extLst>
      <p:ext uri="{BB962C8B-B14F-4D97-AF65-F5344CB8AC3E}">
        <p14:creationId xmlns:p14="http://schemas.microsoft.com/office/powerpoint/2010/main" val="67105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899DF5-DBCD-4DFC-B00B-4AF18D7E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任务时间轴</a:t>
            </a:r>
          </a:p>
        </p:txBody>
      </p:sp>
      <p:sp>
        <p:nvSpPr>
          <p:cNvPr id="2" name="slide-footnote">
            <a:extLst xmlns:a="http://schemas.openxmlformats.org/drawingml/2006/main">
              <a:ext uri="{FF2B5EF4-FFF2-40B4-BE49-F238E27FC236}">
                <a16:creationId xmlns:a16="http://schemas.microsoft.com/office/drawing/2014/main" id="{36FCAC41-CEF0-4B82-93C0-1E8A4A66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　观测 2026-09-14　生成 2026-10-16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D297A2-11D0-4594-AB65-A416CF89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9127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03 / 08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74766F-07BC-4368-88EF-9C1531C0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AI 预测比计划截止提前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2825ED-6947-4496-930C-DF3BA935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81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7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9 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455954-8905-4D6D-BB25-1EFE771E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19475"/>
            <a:ext cx="4476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预测日期仍需随未闭环事项更新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当前快照未记录实际完成日期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7D874-F749-4268-A5F8-AB5481E1546A}"/>
              </a:ext>
            </a:extLst>
          </p:cNvPr>
          <p:cNvGraphicFramePr/>
          <p:nvPr/>
        </p:nvGraphicFramePr>
        <p:xfrm>
          <a:off xmlns:a="http://schemas.openxmlformats.org/drawingml/2006/main" x="5734050" y="1428750"/>
          <a:ext xmlns:a="http://schemas.openxmlformats.org/drawingml/2006/main" cx="581025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952750"/>
              </a:tblGrid>
              <a:tr h="746760">
                <a:tc>
                  <a:txBody>
                    <a:bodyPr lIns="76200" tIns="76200" rIns="76200" bIns="76200"/>
                    <a:lstStyle/>
                    <a:p>
                      <a:r>
                        <a:rPr sz="1950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时间节点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950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日期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</a:tr>
              <a:tr h="746760"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任务创建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2026-09-08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进度观测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2026-09-14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6760"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 预测完成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2026-09-21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计划截止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95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2026-09-30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F2BE83-31F3-441F-B1F3-64211B6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活动窗口 09-10 至 09-18 属于前序首发计划。任务闭环采用 09-30 截止口径。</a:t>
            </a:r>
          </a:p>
        </p:txBody>
      </p:sp>
    </p:spTree>
    <p:extLst>
      <p:ext uri="{BB962C8B-B14F-4D97-AF65-F5344CB8AC3E}">
        <p14:creationId xmlns:p14="http://schemas.microsoft.com/office/powerpoint/2010/main" val="9320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01874D-EC63-4252-940B-AED5F60F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8 项末级交付状态</a:t>
            </a:r>
          </a:p>
        </p:txBody>
      </p:sp>
      <p:sp>
        <p:nvSpPr>
          <p:cNvPr id="2" name="slide-footnote">
            <a:extLst xmlns:a="http://schemas.openxmlformats.org/drawingml/2006/main">
              <a:ext uri="{FF2B5EF4-FFF2-40B4-BE49-F238E27FC236}">
                <a16:creationId xmlns:a16="http://schemas.microsoft.com/office/drawing/2014/main" id="{2A581F06-B93E-4368-BB86-DD5A40C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　观测 2026-09-14　生成 2026-10-16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730785-51AA-49C9-9747-E169BB0A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9127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04 / 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D73F2-8F34-4230-9A68-0AD8134851DF}"/>
              </a:ext>
            </a:extLst>
          </p:cNvPr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10972800" cy="4229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53250"/>
                <a:gridCol w="1619250"/>
                <a:gridCol w="2400300"/>
              </a:tblGrid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交付结果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负责人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快照状态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达人长名单与分层依据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陈默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已完成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核心达人报价与合同版本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陈默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未闭环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功效宣称证据矩阵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苏禾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已完成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首批短视频母版素材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林洁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未闭环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直播全链路彩排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高远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未闭环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首发价格与库存分配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梁川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已完成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投流预算与止损线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许宁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未闭环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归因与库存联动看板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韩序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725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未闭环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8A0158-9872-4FB9-AFE2-9963A09E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当前范围已移除达人发布与直播档期任务。已完成状态仅指本地 Mock 记录。</a:t>
            </a:r>
          </a:p>
        </p:txBody>
      </p:sp>
    </p:spTree>
    <p:extLst>
      <p:ext uri="{BB962C8B-B14F-4D97-AF65-F5344CB8AC3E}">
        <p14:creationId xmlns:p14="http://schemas.microsoft.com/office/powerpoint/2010/main" val="49262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2C2749-854F-41FB-8FF1-BD93260D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首发投放预算 30 万元</a:t>
            </a:r>
          </a:p>
        </p:txBody>
      </p:sp>
      <p:sp>
        <p:nvSpPr>
          <p:cNvPr id="2" name="slide-footnote">
            <a:extLst xmlns:a="http://schemas.openxmlformats.org/drawingml/2006/main">
              <a:ext uri="{FF2B5EF4-FFF2-40B4-BE49-F238E27FC236}">
                <a16:creationId xmlns:a16="http://schemas.microsoft.com/office/drawing/2014/main" id="{C07D87F1-8C32-4699-ADAE-46C2615A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　观测 2026-09-14　生成 2026-10-16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A81E45-D2C8-4F75-925D-566D1476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9127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05 / 08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7492BA-580D-4691-9CD2-FF590544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三阶段计划上限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313C170-B5F5-4F0F-B1CC-2AB1F8E80094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73152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c95abbec4749a2"/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61E5A2-D235-4454-860D-1128D2EA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58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8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60%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46010F-226F-43FD-A4DD-28D4022D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81325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放量阶段占比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8969C1-71B9-482F-A3CB-25228147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312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许宁执行阶段预算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周岚确认追加及例外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韩序核对归因口径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732A9D7-8A3D-435F-922A-493BC9B3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预算按计划管理，报告未填报实际消耗。门禁与停止条件闭环后再释放预算。</a:t>
            </a:r>
          </a:p>
        </p:txBody>
      </p:sp>
    </p:spTree>
    <p:extLst>
      <p:ext uri="{BB962C8B-B14F-4D97-AF65-F5344CB8AC3E}">
        <p14:creationId xmlns:p14="http://schemas.microsoft.com/office/powerpoint/2010/main" val="13926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AA15DD-27C6-4BFC-9FE9-BD70115D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商品与库存分配</a:t>
            </a:r>
          </a:p>
        </p:txBody>
      </p:sp>
      <p:sp>
        <p:nvSpPr>
          <p:cNvPr id="2" name="slide-footnote">
            <a:extLst xmlns:a="http://schemas.openxmlformats.org/drawingml/2006/main">
              <a:ext uri="{FF2B5EF4-FFF2-40B4-BE49-F238E27FC236}">
                <a16:creationId xmlns:a16="http://schemas.microsoft.com/office/drawing/2014/main" id="{E7202FFA-3FB9-40BE-9095-46E40F2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　观测 2026-09-14　生成 2026-10-16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4DD6E6-7566-4E46-9D7C-E6089A3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9127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06 / 08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5A28717-770E-47AD-A6E5-700BD8DC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4762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61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1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12,000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A5F4AC-5CAC-43B7-BACB-D2255DCB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86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首批计划库存，件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27D8D1-B8EE-4313-8BB0-02A5DD12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4275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75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299 元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D2670E-2752-4EBF-A3EB-6693CA86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30 ml 精华计划到手价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08B28D9-C075-4910-9825-A39FCED2179B}"/>
              </a:ext>
            </a:extLst>
          </p:cNvPr>
          <p:cNvGraphicFramePr/>
          <p:nvPr/>
        </p:nvGraphicFramePr>
        <p:xfrm>
          <a:off xmlns:a="http://schemas.openxmlformats.org/drawingml/2006/main" x="5619750" y="1409700"/>
          <a:ext xmlns:a="http://schemas.openxmlformats.org/drawingml/2006/main" cx="596265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40f68db3214272"/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308504-BAC2-46BC-85AE-AF5826E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梁川维护价格与库存版本。计划分配未包含实际已售或实际成交结果。</a:t>
            </a:r>
          </a:p>
        </p:txBody>
      </p:sp>
    </p:spTree>
    <p:extLst>
      <p:ext uri="{BB962C8B-B14F-4D97-AF65-F5344CB8AC3E}">
        <p14:creationId xmlns:p14="http://schemas.microsoft.com/office/powerpoint/2010/main" val="14705517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1E7262-F148-4CBD-BA27-2D83E00D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风险与待确认事项</a:t>
            </a:r>
          </a:p>
        </p:txBody>
      </p:sp>
      <p:sp>
        <p:nvSpPr>
          <p:cNvPr id="2" name="slide-footnote">
            <a:extLst xmlns:a="http://schemas.openxmlformats.org/drawingml/2006/main">
              <a:ext uri="{FF2B5EF4-FFF2-40B4-BE49-F238E27FC236}">
                <a16:creationId xmlns:a16="http://schemas.microsoft.com/office/drawing/2014/main" id="{39461DF3-971E-47EA-B7B7-441A366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　观测 2026-09-14　生成 2026-10-16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D45C2E-D5C0-4BFC-AE5E-367A3BED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9127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07 / 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D07AE-F9E3-430A-92E0-36FB1A301885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3981450"/>
                <a:gridCol w="5086350"/>
              </a:tblGrid>
              <a:tr h="697230"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事项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当前边界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下一次核对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T w="7144">
                      <a:solidFill>
                        <a:srgbClr val="D8DED5"/>
                      </a:solidFill>
                      <a:prstDash val="solid"/>
                    </a:lnT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E3EADF"/>
                    </a:solidFill>
                  </a:tcPr>
                </a:tc>
              </a:tr>
              <a:tr h="69723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达人合同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合同叶子任务仍未闭环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陈默核对回签、附件和授权范围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内容与宣称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宣称矩阵已完成，母版仍待交付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林洁与苏禾逐条核对新素材版本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9723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商品与直播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价格库存已完成，彩排仍待交付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高远和梁川核对主备链路与商品配置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投放与归因</a:t>
                      </a:r>
                    </a:p>
                  </a:txBody>
                  <a:tcPr marL="133350" marR="114300" marT="85725" marB="76200" anchor="ctr">
                    <a:lnL w="7144">
                      <a:solidFill>
                        <a:srgbClr val="D8DED5"/>
                      </a:solidFill>
                      <a:prstDash val="solid"/>
                    </a:lnL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预算门禁与联动看板仍待闭环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6332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许宁与韩序确认停止条件和缺失数据</a:t>
                      </a:r>
                    </a:p>
                  </a:txBody>
                  <a:tcPr marL="133350" marR="114300" marT="85725" marB="76200" anchor="ctr">
                    <a:lnR w="7144">
                      <a:solidFill>
                        <a:srgbClr val="D8DED5"/>
                      </a:solidFill>
                      <a:prstDash val="solid"/>
                    </a:lnR>
                    <a:lnB w="7144">
                      <a:solidFill>
                        <a:srgbClr val="D8DED5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62C198-EBC2-41E1-9668-89ABD583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快照之外的进度保持待确认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132FE9-2729-47C5-8754-256923BF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不推断 09-14 之后已经完成的工作。不把已完成任务状态写成真实审批通过。</a:t>
            </a:r>
          </a:p>
        </p:txBody>
      </p:sp>
    </p:spTree>
    <p:extLst>
      <p:ext uri="{BB962C8B-B14F-4D97-AF65-F5344CB8AC3E}">
        <p14:creationId xmlns:p14="http://schemas.microsoft.com/office/powerpoint/2010/main" val="688261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E5355B-96FF-4014-A09A-DE934E3B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下一步交付与完成判定</a:t>
            </a:r>
          </a:p>
        </p:txBody>
      </p:sp>
      <p:sp>
        <p:nvSpPr>
          <p:cNvPr id="2" name="slide-footnote">
            <a:extLst xmlns:a="http://schemas.openxmlformats.org/drawingml/2006/main">
              <a:ext uri="{FF2B5EF4-FFF2-40B4-BE49-F238E27FC236}">
                <a16:creationId xmlns:a16="http://schemas.microsoft.com/office/drawing/2014/main" id="{56E12D1A-6807-4C66-BD52-88EF23A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本地 Mock 合成演示　观测 2026-09-14　生成 2026-10-16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00144E-BCF7-423B-B3BB-260E9E5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91275"/>
            <a:ext cx="914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buNone/>
              <a:def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08 / 08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EB48D7B-39DA-46B1-9C69-9252E05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295A18-50C8-49E7-9B5F-52F5529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76375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陈默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C6B3A6-6A82-4C16-B187-A093C098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7637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收口报价、合同附件及授权范围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D4C3E58-2865-41EC-9418-65BFCC1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A6C1FE-DBBE-4B2E-A606-E5410593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林洁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68BF7F3-D2E4-4AB8-B11A-89B2C312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33600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交付母版、源文件和版本说明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6A9B7B0-2BCF-4C13-BE45-785B0DA5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436B28B-72E7-4F14-A30A-614E41EB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90825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高远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D07E7A-3E8F-43BB-942E-25FB4D1A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完成主备链路彩排并关闭问题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EBD6BAB-E98F-40C7-B4C5-1BAFBF09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9A7805C-E7AF-47BD-B867-49F5BADB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许宁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661FBC1-7D74-4F15-88BC-974A0933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48050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核准阶段预算及停止条件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F7FC210-E9BB-41AF-8C32-97E2A3C1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A77B3D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71848B5-8B10-4CF9-B1AB-D88763A1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05275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韩序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53C474B-28DC-46E0-9995-F080AA3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05275"/>
            <a:ext cx="842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32D"/>
                </a:solidFill>
                <a:latin typeface="Arial Unicode MS"/>
                <a:ea typeface="Arial Unicode MS"/>
                <a:cs typeface="Arial Unicode MS"/>
              </a:rPr>
              <a:t>上线归因与库存联动看板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2F5B595-1128-441E-8A61-8B3304FB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23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44C3B"/>
                </a:solidFill>
                <a:latin typeface="Arial Unicode MS"/>
                <a:ea typeface="Arial Unicode MS"/>
                <a:cs typeface="Arial Unicode MS"/>
              </a:rPr>
              <a:t>周岚逐项签收后，再更新任务状态与完成预测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846D3E5-999B-4226-A4E0-2B2FBC86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完成判定包括交付版本、核对结论和遗留问题处理结果。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9776F"/>
                </a:solidFill>
                <a:latin typeface="Arial Unicode MS"/>
                <a:ea typeface="Arial Unicode MS"/>
                <a:cs typeface="Arial Unicode MS"/>
              </a:rPr>
              <a:t>本汇报及主视觉均为合成演示资料，不构成真实审批、成交或功效证明。</a:t>
            </a:r>
          </a:p>
        </p:txBody>
      </p:sp>
    </p:spTree>
    <p:extLst>
      <p:ext uri="{BB962C8B-B14F-4D97-AF65-F5344CB8AC3E}">
        <p14:creationId xmlns:p14="http://schemas.microsoft.com/office/powerpoint/2010/main" val="1286353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2026-10-16T07:01:06.8600000Z</dcterms:created>
  <dcterms:modified xsi:type="dcterms:W3CDTF">2026-10-16T07:01:06.8600000Z</dcterms:modified>
</coreProperties>
</file>